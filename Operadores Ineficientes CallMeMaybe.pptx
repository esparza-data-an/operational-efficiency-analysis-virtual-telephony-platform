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95" d="100"/>
          <a:sy n="95" d="100"/>
        </p:scale>
        <p:origin x="163" y="-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E630F-C956-425D-505C-BC5A15485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B94E5E-9C9F-2D8A-14A5-7CEA2AD3D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BCF7E6-EC88-531D-55FA-D54543EC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ACA50C-4272-44CF-48A2-3C75870B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17E007-4031-3582-4BEF-28ACEC0E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96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0C303-24CC-23A1-BDEC-FDAF4BC2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212B7-8289-69AE-84A9-D8AE2BA6B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9ADA45-19EC-FC67-FC61-CCBADCD7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93FBD-2A10-1B55-ABCA-D9202FEA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2C2C32-0C34-CBC7-592B-B619E583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173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F57D0-6B27-1697-2315-70FFC8D8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548AF0-860A-A7DF-C89F-71E57AE58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F3512F-C7DA-ACB5-819A-CF562177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DC78D-8ABE-5EBC-65CA-CE0AAA79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224D32-EF0E-350F-90A2-EC0F0300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300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C298F-97F0-E656-BF71-22D2BA7E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E09CEB-ABEF-002B-5D0D-CAC2862AE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6AEC87-33CF-76FB-A834-D38298F27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38DD4-1375-2D12-E280-678271A2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670C33-160F-5DFA-D280-941B59163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7BBE72-174D-0F0D-8603-9924132A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692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863AE-B262-6A5B-BFC0-FEC4D922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8B9377-B871-667B-9DB0-23F9A98B1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CBFB5D-7D57-C053-11F6-563BE3718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6A7A6D-4ED2-C4B5-F465-E4838BCC8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7D5E9E-BEAF-7AD8-46B2-D7AB6442B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944A58-A636-2FE0-503A-A9677E45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C9FC79-05FE-A45D-7EC4-87D3C9DD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61B387D-70A0-80F7-1ADA-7FCBE110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35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75634-FCCC-81F2-84E3-18AB73FB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03392E-C2FD-5D8D-23BC-62F99358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1934D8-8395-3AEA-04A8-9A5546D9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4538A5-CC80-F8C5-3465-E8608F83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76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EB42CB-C87B-5CC6-389D-4B003DE9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1BB436-76C6-65C1-E7F8-916327831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2E8243-B70F-529A-CF40-DF94F238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560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ED94F-86BF-0448-CC13-3EA1AF3B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FDDC69-FE75-E980-9679-B53F50401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F606E6-3EF6-42DB-8536-9F195FB4A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0406A2-3A2C-A463-ABC4-95CD35A6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B0F493-07E8-A9B9-4B8A-C582D9A8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DB6D54-29D7-EDAC-9A2E-21900C9A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43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2F440-2DA9-F2B2-AF0A-A30051A5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848894-B9BC-E80F-C754-79FE0CC59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90D739-10BD-37FD-B039-F4EA865B6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D921C0-58DC-DB1E-4F46-C559688F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1DC80C-5768-ED10-CE01-01B641FF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E8A9D5-6879-200E-5B04-CECED2C8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907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F33EF-2B3C-5BC7-1C13-09E8997D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E804AC-FDD7-93F8-00C3-AA4AC5D61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772A5D-77E5-0621-1B8A-07F9D8A2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A41CF6-9744-5BAB-3A3A-058CDC8A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1E2333-E4B1-6FFA-0424-E8E057D47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84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52BAFA-57D3-B82C-07A3-B7AED797E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BF4D4D-DB6A-43D4-EC95-4504AB9D8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1FB38-A52C-F478-98B4-14E3EA90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50B86-AB9F-8284-A7FB-EEA843EB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45CF15-0709-1B59-DE49-CBBA9D5E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634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FC9035-9F78-07F9-B2C0-4076AB06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2BE3CB-21CB-0C56-3809-535BB8311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9712E9-6228-E6F7-92E9-6D3A20198D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8154C-9E2B-4395-A110-61303EB8CDEB}" type="datetimeFigureOut">
              <a:rPr lang="es-MX" smtClean="0"/>
              <a:t>19/04/2026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115B77-FFA3-07B4-89C9-3EEC7FFA7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E787E6-2533-CC75-97C8-FB0AAA1CD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24F8F-808E-440D-87C3-F370110C856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873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645A870-2193-46B1-3A15-FACEC909A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s-MX" sz="5200">
                <a:solidFill>
                  <a:schemeClr val="tx2"/>
                </a:solidFill>
              </a:rPr>
              <a:t>CallMeMaybe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8307B8-41B6-95A8-F1D9-840C81F7F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s-MX" sz="2200">
                <a:solidFill>
                  <a:schemeClr val="tx2"/>
                </a:solidFill>
              </a:rPr>
              <a:t>Deteccci</a:t>
            </a:r>
            <a:r>
              <a:rPr lang="en-US" sz="2200">
                <a:solidFill>
                  <a:schemeClr val="tx2"/>
                </a:solidFill>
              </a:rPr>
              <a:t>ón de operadores ineficientes</a:t>
            </a:r>
            <a:endParaRPr lang="es-MX" sz="220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208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F0D11-7D80-10EA-357A-21A0794E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Presentación del </a:t>
            </a:r>
            <a:r>
              <a:rPr lang="en-US" dirty="0" err="1"/>
              <a:t>análisis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4A4B1E-4A67-6379-7A9B-923B573B8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1" dirty="0"/>
              <a:t>Objetivo:</a:t>
            </a:r>
            <a:r>
              <a:rPr lang="es-MX" dirty="0"/>
              <a:t> Detectar operadores con alta tasa de llamadas perdidas, largos tiempos de espera y bajo volumen de llamadas salientes.</a:t>
            </a:r>
          </a:p>
          <a:p>
            <a:pPr marL="0" indent="0">
              <a:buNone/>
            </a:pPr>
            <a:r>
              <a:rPr lang="es-MX" b="1" dirty="0"/>
              <a:t>Datos disponibles</a:t>
            </a:r>
          </a:p>
          <a:p>
            <a:r>
              <a:rPr lang="es-MX" dirty="0"/>
              <a:t>Origen: Telecomunicaciones – registros de llamadas (entrantes, salientes, internas) de 4 meses.</a:t>
            </a:r>
          </a:p>
          <a:p>
            <a:r>
              <a:rPr lang="es-MX" dirty="0"/>
              <a:t>Volumen inicial: 53.902 registros, 1.055 operadores únicos después de limpieza.</a:t>
            </a:r>
          </a:p>
          <a:p>
            <a:pPr marL="0" indent="0">
              <a:buNone/>
            </a:pPr>
            <a:r>
              <a:rPr lang="es-MX" b="1" dirty="0"/>
              <a:t>Ruta del </a:t>
            </a:r>
            <a:r>
              <a:rPr lang="es-MX" b="1" dirty="0" err="1"/>
              <a:t>an</a:t>
            </a:r>
            <a:r>
              <a:rPr lang="en-US" b="1" dirty="0"/>
              <a:t>á</a:t>
            </a:r>
            <a:r>
              <a:rPr lang="es-MX" b="1" dirty="0"/>
              <a:t>lisis</a:t>
            </a:r>
          </a:p>
          <a:p>
            <a:r>
              <a:rPr lang="es-MX" dirty="0"/>
              <a:t>Paso 1: Carga y análisis exploratorio de datos (EDA).</a:t>
            </a:r>
          </a:p>
          <a:p>
            <a:r>
              <a:rPr lang="es-MX" dirty="0"/>
              <a:t>Paso 2: Data </a:t>
            </a:r>
            <a:r>
              <a:rPr lang="es-MX" dirty="0" err="1"/>
              <a:t>wrangling</a:t>
            </a:r>
            <a:r>
              <a:rPr lang="es-MX" dirty="0"/>
              <a:t> — construcción de métricas de ineficiencia por operador.</a:t>
            </a:r>
          </a:p>
          <a:p>
            <a:r>
              <a:rPr lang="es-MX" dirty="0"/>
              <a:t>Paso 3: Sistema de ranking y clasificación de operadores.</a:t>
            </a:r>
          </a:p>
          <a:p>
            <a:r>
              <a:rPr lang="es-MX" dirty="0"/>
              <a:t>Paso 4: Comprobación estadística de los resultados.</a:t>
            </a:r>
          </a:p>
          <a:p>
            <a:r>
              <a:rPr lang="es-MX" dirty="0"/>
              <a:t>Paso 5: Conclusiones y recomendaciones.</a:t>
            </a:r>
          </a:p>
        </p:txBody>
      </p:sp>
    </p:spTree>
    <p:extLst>
      <p:ext uri="{BB962C8B-B14F-4D97-AF65-F5344CB8AC3E}">
        <p14:creationId xmlns:p14="http://schemas.microsoft.com/office/powerpoint/2010/main" val="273130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894A5-06CB-5876-0D81-5C8BCFB0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b="1" dirty="0"/>
              <a:t>Hallazgo crítico – La importancia de ponderar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AB8E3-9A59-A53B-18FA-9C61701F1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Gráfico sugerido:</a:t>
            </a:r>
            <a:r>
              <a:rPr lang="es-MX" dirty="0"/>
              <a:t> Comparación de porcentajes sin ponderar vs ponderados (barras dobles para dirección y pérdidas globales).</a:t>
            </a:r>
          </a:p>
          <a:p>
            <a:r>
              <a:rPr lang="es-MX" b="1" dirty="0"/>
              <a:t>Conclusión:</a:t>
            </a:r>
            <a:r>
              <a:rPr lang="es-MX" dirty="0"/>
              <a:t> Sin ponderar por </a:t>
            </a:r>
            <a:r>
              <a:rPr lang="es-MX" dirty="0" err="1"/>
              <a:t>calls_count</a:t>
            </a:r>
            <a:r>
              <a:rPr lang="es-MX" dirty="0"/>
              <a:t>, los resultados son engañosos.</a:t>
            </a:r>
          </a:p>
          <a:p>
            <a:pPr lvl="1"/>
            <a:r>
              <a:rPr lang="es-MX" dirty="0"/>
              <a:t>Volumen real de salientes → </a:t>
            </a:r>
            <a:r>
              <a:rPr lang="es-MX" b="1" dirty="0"/>
              <a:t>&gt;90%</a:t>
            </a:r>
            <a:r>
              <a:rPr lang="es-MX" dirty="0"/>
              <a:t> (no 69%).</a:t>
            </a:r>
          </a:p>
          <a:p>
            <a:pPr lvl="1"/>
            <a:r>
              <a:rPr lang="es-MX" dirty="0"/>
              <a:t>Tasa real de pérdidas → </a:t>
            </a:r>
            <a:r>
              <a:rPr lang="es-MX" b="1" dirty="0"/>
              <a:t>&gt;50%</a:t>
            </a:r>
            <a:r>
              <a:rPr lang="es-MX" dirty="0"/>
              <a:t> (no 34%).</a:t>
            </a:r>
          </a:p>
          <a:p>
            <a:r>
              <a:rPr lang="es-MX" b="1" dirty="0"/>
              <a:t>Decisión:</a:t>
            </a:r>
            <a:r>
              <a:rPr lang="es-MX" dirty="0"/>
              <a:t> Todas las métricas se calcularon ponderando por el conteo de llamadas.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661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30789-303E-4AD6-27E2-19F438C5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Perfiles de operador	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A2B799-8BFB-90DF-F264-06D2A8347B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Tres grupos:</a:t>
            </a:r>
            <a:endParaRPr lang="es-MX" dirty="0"/>
          </a:p>
          <a:p>
            <a:pPr lvl="1"/>
            <a:r>
              <a:rPr lang="es-MX" dirty="0"/>
              <a:t>Solo receptores (casi 0 salientes)</a:t>
            </a:r>
          </a:p>
          <a:p>
            <a:pPr lvl="1"/>
            <a:r>
              <a:rPr lang="es-MX" dirty="0"/>
              <a:t>Solo emisores (casi 0 entrantes)</a:t>
            </a:r>
          </a:p>
          <a:p>
            <a:pPr lvl="1"/>
            <a:r>
              <a:rPr lang="es-MX" dirty="0"/>
              <a:t>Mixtos</a:t>
            </a:r>
          </a:p>
          <a:p>
            <a:pPr marL="0" indent="0">
              <a:buNone/>
            </a:pPr>
            <a:r>
              <a:rPr lang="es-MX" b="1" dirty="0"/>
              <a:t>Implicación:</a:t>
            </a:r>
            <a:r>
              <a:rPr lang="es-MX" dirty="0"/>
              <a:t> La penalización por bajo volumen saliente solo se aplica si el operador tiene una proporción de salientes de un 20%</a:t>
            </a:r>
          </a:p>
          <a:p>
            <a:endParaRPr lang="es-MX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6E1C0C5-1E8E-CE3C-C520-3C89933E1A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9800" y="1597554"/>
            <a:ext cx="5982824" cy="407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8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F30EDD2-F2F4-7ED1-7B1B-E3639F4E6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632" y="239193"/>
            <a:ext cx="8830733" cy="1325563"/>
          </a:xfrm>
        </p:spPr>
        <p:txBody>
          <a:bodyPr/>
          <a:lstStyle/>
          <a:p>
            <a:pPr algn="ctr"/>
            <a:r>
              <a:rPr lang="es-MX" b="1" dirty="0"/>
              <a:t>Hallazgos en las distribuciones</a:t>
            </a:r>
            <a:endParaRPr lang="es-MX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8AA5D652-A4D2-8BC4-2295-D377F04407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174631"/>
              </p:ext>
            </p:extLst>
          </p:nvPr>
        </p:nvGraphicFramePr>
        <p:xfrm>
          <a:off x="1135498" y="1564756"/>
          <a:ext cx="9921000" cy="407996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960500">
                  <a:extLst>
                    <a:ext uri="{9D8B030D-6E8A-4147-A177-3AD203B41FA5}">
                      <a16:colId xmlns:a16="http://schemas.microsoft.com/office/drawing/2014/main" val="1911202697"/>
                    </a:ext>
                  </a:extLst>
                </a:gridCol>
                <a:gridCol w="4960500">
                  <a:extLst>
                    <a:ext uri="{9D8B030D-6E8A-4147-A177-3AD203B41FA5}">
                      <a16:colId xmlns:a16="http://schemas.microsoft.com/office/drawing/2014/main" val="2038875377"/>
                    </a:ext>
                  </a:extLst>
                </a:gridCol>
              </a:tblGrid>
              <a:tr h="36229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Métrica (negocio)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72355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>
                          <a:effectLst/>
                        </a:rPr>
                        <a:t>Hallazgo del histograma</a:t>
                      </a:r>
                      <a:endParaRPr lang="es-MX" sz="1400" b="0">
                        <a:effectLst/>
                        <a:latin typeface="quote-cjk-patch"/>
                      </a:endParaRPr>
                    </a:p>
                  </a:txBody>
                  <a:tcPr marL="96473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60181"/>
                  </a:ext>
                </a:extLst>
              </a:tr>
              <a:tr h="71554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Llamadas entrantes perdidas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72355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>
                          <a:effectLst/>
                        </a:rPr>
                        <a:t>La mayoría no pierde ninguna; solo una minoría registra pérdidas.</a:t>
                      </a:r>
                      <a:endParaRPr lang="es-MX" sz="1400" b="0">
                        <a:effectLst/>
                        <a:latin typeface="quote-cjk-patch"/>
                      </a:endParaRPr>
                    </a:p>
                  </a:txBody>
                  <a:tcPr marL="96473" marR="72355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404011"/>
                  </a:ext>
                </a:extLst>
              </a:tr>
              <a:tr h="71554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Tiempo de espera en llamadas entrantes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72355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Generalmente bajo, pero hay operadores con esperas extremadamente largas.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96473" marR="72355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817617"/>
                  </a:ext>
                </a:extLst>
              </a:tr>
              <a:tr h="92329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>
                          <a:effectLst/>
                        </a:rPr>
                        <a:t>Volumen de llamadas salientes</a:t>
                      </a:r>
                      <a:endParaRPr lang="es-MX" sz="1400" b="0">
                        <a:effectLst/>
                        <a:latin typeface="quote-cjk-patch"/>
                      </a:endParaRPr>
                    </a:p>
                  </a:txBody>
                  <a:tcPr marL="72355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Muy desigual: muchos operadores hacen pocas llamadas, unos pocos hacen muchísimas.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96473" marR="72355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019176"/>
                  </a:ext>
                </a:extLst>
              </a:tr>
              <a:tr h="71554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>
                          <a:effectLst/>
                        </a:rPr>
                        <a:t>Llamadas salientes perdidas</a:t>
                      </a:r>
                      <a:endParaRPr lang="es-MX" sz="1400" b="0">
                        <a:effectLst/>
                        <a:latin typeface="quote-cjk-patch"/>
                      </a:endParaRPr>
                    </a:p>
                  </a:txBody>
                  <a:tcPr marL="72355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Fenómeno generalizado: la mayoría pierde entre 30% y 50% de sus llamadas.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96473" marR="72355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512835"/>
                  </a:ext>
                </a:extLst>
              </a:tr>
              <a:tr h="6477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Llamadas salientes sin conversación (duración cero)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72355" marR="96473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400" b="0" dirty="0">
                          <a:effectLst/>
                        </a:rPr>
                        <a:t>Comportamiento similar a las pérdidas: la mayoría ronda 30-40%, pero un grupo pequeño supera el 80%.</a:t>
                      </a:r>
                      <a:endParaRPr lang="es-MX" sz="1400" b="0" dirty="0">
                        <a:effectLst/>
                        <a:latin typeface="quote-cjk-patch"/>
                      </a:endParaRPr>
                    </a:p>
                  </a:txBody>
                  <a:tcPr marL="96473" marR="72355" marT="60296" marB="602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963564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4D858CEB-DE76-C862-C431-AC3ABE6C7F45}"/>
              </a:ext>
            </a:extLst>
          </p:cNvPr>
          <p:cNvSpPr txBox="1"/>
          <p:nvPr/>
        </p:nvSpPr>
        <p:spPr>
          <a:xfrm>
            <a:off x="2903219" y="5830167"/>
            <a:ext cx="7416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0" dirty="0">
                <a:effectLst/>
              </a:rPr>
              <a:t>Conclusión:</a:t>
            </a:r>
            <a:r>
              <a:rPr lang="es-MX" b="0" i="0" dirty="0">
                <a:effectLst/>
              </a:rPr>
              <a:t> Cada métrica mostró una forma característica que nos guio para elegir puntos de corte lógicos (que veremos en la siguiente diapositiva).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762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51D04-198D-04ED-E975-774E9CCC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r>
              <a:rPr lang="es-MX" sz="3200" b="1" dirty="0"/>
              <a:t>Cinco criterios de ineficiencia</a:t>
            </a:r>
            <a:endParaRPr lang="es-MX" sz="3200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BA94D19E-2BC8-AFF1-7FBF-A57E0F34E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360645"/>
              </p:ext>
            </p:extLst>
          </p:nvPr>
        </p:nvGraphicFramePr>
        <p:xfrm>
          <a:off x="1253975" y="1731706"/>
          <a:ext cx="9684050" cy="339458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459510">
                  <a:extLst>
                    <a:ext uri="{9D8B030D-6E8A-4147-A177-3AD203B41FA5}">
                      <a16:colId xmlns:a16="http://schemas.microsoft.com/office/drawing/2014/main" val="2153340618"/>
                    </a:ext>
                  </a:extLst>
                </a:gridCol>
                <a:gridCol w="3459510">
                  <a:extLst>
                    <a:ext uri="{9D8B030D-6E8A-4147-A177-3AD203B41FA5}">
                      <a16:colId xmlns:a16="http://schemas.microsoft.com/office/drawing/2014/main" val="4051489711"/>
                    </a:ext>
                  </a:extLst>
                </a:gridCol>
                <a:gridCol w="2765030">
                  <a:extLst>
                    <a:ext uri="{9D8B030D-6E8A-4147-A177-3AD203B41FA5}">
                      <a16:colId xmlns:a16="http://schemas.microsoft.com/office/drawing/2014/main" val="801458269"/>
                    </a:ext>
                  </a:extLst>
                </a:gridCol>
              </a:tblGrid>
              <a:tr h="54551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20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Criterio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20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Métrica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20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Umbral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438676"/>
                  </a:ext>
                </a:extLst>
              </a:tr>
              <a:tr h="52025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1. Alta pérdida entrante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MX" sz="1500" b="0" cap="none" spc="0" dirty="0" err="1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missed_rate_incoming</a:t>
                      </a:r>
                      <a:endParaRPr lang="es-MX" sz="15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&gt; 5%</a:t>
                      </a:r>
                    </a:p>
                  </a:txBody>
                  <a:tcPr marL="80580" marR="115114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206"/>
                  </a:ext>
                </a:extLst>
              </a:tr>
              <a:tr h="52025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2. Alta espera entrante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avg_wait_time_incoming</a:t>
                      </a:r>
                      <a:endParaRPr lang="es-MX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&gt; 121 s</a:t>
                      </a:r>
                    </a:p>
                  </a:txBody>
                  <a:tcPr marL="80580" marR="115114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95732"/>
                  </a:ext>
                </a:extLst>
              </a:tr>
              <a:tr h="76806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3. Bajo volumen saliente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n-US" sz="1500" b="0" cap="none" spc="0" dirty="0" err="1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total_outgoing_calls</a:t>
                      </a:r>
                      <a:r>
                        <a:rPr lang="en-US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&lt; 28 </a:t>
                      </a:r>
                      <a:r>
                        <a:rPr lang="en-US" sz="1500" b="1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y</a:t>
                      </a:r>
                      <a:r>
                        <a:rPr lang="en-US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</a:t>
                      </a:r>
                      <a:r>
                        <a:rPr lang="en-US" sz="1500" b="0" cap="none" spc="0" dirty="0" err="1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prop_outgoing</a:t>
                      </a:r>
                      <a:r>
                        <a:rPr lang="en-US" sz="1500" b="0" cap="none" spc="0" dirty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 &gt; 0.2</a:t>
                      </a:r>
                      <a:endParaRPr lang="en-US" sz="15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s-MX" sz="1500" b="0" cap="none" spc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80" marR="115114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416252"/>
                  </a:ext>
                </a:extLst>
              </a:tr>
              <a:tr h="52025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4. Alta pérdida saliente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missed_rate_outgoing</a:t>
                      </a:r>
                      <a:endParaRPr lang="es-MX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&gt; 49%</a:t>
                      </a:r>
                    </a:p>
                  </a:txBody>
                  <a:tcPr marL="80580" marR="115114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395574"/>
                  </a:ext>
                </a:extLst>
              </a:tr>
              <a:tr h="52025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5. Alta duración cero en salientes</a:t>
                      </a: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es-MX" sz="15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zero_outgoing_ratio</a:t>
                      </a:r>
                      <a:endParaRPr lang="es-MX" sz="15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80580" marR="153485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s-MX" sz="1500" b="0" cap="none" spc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&gt; 80%</a:t>
                      </a:r>
                    </a:p>
                  </a:txBody>
                  <a:tcPr marL="80580" marR="115114" marT="23023" marB="1726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281228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9C458212-2297-82AB-17F2-B39E055030CA}"/>
              </a:ext>
            </a:extLst>
          </p:cNvPr>
          <p:cNvSpPr txBox="1"/>
          <p:nvPr/>
        </p:nvSpPr>
        <p:spPr>
          <a:xfrm>
            <a:off x="2861733" y="5620435"/>
            <a:ext cx="629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effectLst/>
                <a:latin typeface="quote-cjk-patch"/>
              </a:rPr>
              <a:t>Cada criterio aporta </a:t>
            </a:r>
            <a:r>
              <a:rPr lang="es-MX" b="1" i="0" dirty="0">
                <a:effectLst/>
                <a:latin typeface="quote-cjk-patch"/>
              </a:rPr>
              <a:t>1 punto</a:t>
            </a:r>
            <a:r>
              <a:rPr lang="es-MX" b="0" i="0" dirty="0">
                <a:effectLst/>
                <a:latin typeface="quote-cjk-patch"/>
              </a:rPr>
              <a:t>.                    Ineficaz grave = </a:t>
            </a:r>
            <a:r>
              <a:rPr lang="es-MX" b="1" i="0" dirty="0">
                <a:effectLst/>
                <a:latin typeface="quote-cjk-patch"/>
              </a:rPr>
              <a:t>score ≥ 3</a:t>
            </a:r>
            <a:r>
              <a:rPr lang="es-MX" b="0" i="0" dirty="0">
                <a:effectLst/>
                <a:latin typeface="quote-cjk-patch"/>
              </a:rPr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733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1AFFF-A14C-A6C2-257A-38E15C10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Distribución de la puntuación</a:t>
            </a:r>
            <a:endParaRPr lang="es-MX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205679-9B8E-8327-61CD-C31310799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200" y="2139364"/>
            <a:ext cx="5181600" cy="360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b="1" dirty="0"/>
              <a:t>Resultados:</a:t>
            </a:r>
            <a:endParaRPr lang="es-MX" sz="2400" dirty="0"/>
          </a:p>
          <a:p>
            <a:pPr lvl="1"/>
            <a:r>
              <a:rPr lang="es-MX" sz="2000" dirty="0"/>
              <a:t>50% de operadores → 0 puntos (ningún problema)</a:t>
            </a:r>
          </a:p>
          <a:p>
            <a:pPr lvl="1"/>
            <a:r>
              <a:rPr lang="es-MX" sz="2000" dirty="0"/>
              <a:t>33% → 1 punto</a:t>
            </a:r>
          </a:p>
          <a:p>
            <a:pPr lvl="1"/>
            <a:r>
              <a:rPr lang="es-MX" sz="2000" dirty="0"/>
              <a:t>10% → 2 puntos</a:t>
            </a:r>
          </a:p>
          <a:p>
            <a:pPr lvl="1"/>
            <a:r>
              <a:rPr lang="es-MX" sz="2000" dirty="0"/>
              <a:t>6.6% → 3 puntos (68 operadores)</a:t>
            </a:r>
          </a:p>
          <a:p>
            <a:pPr lvl="1"/>
            <a:r>
              <a:rPr lang="es-MX" sz="2000" dirty="0"/>
              <a:t>0.2% → 4 puntos (2 operadores)</a:t>
            </a:r>
          </a:p>
          <a:p>
            <a:pPr lvl="1"/>
            <a:r>
              <a:rPr lang="es-MX" sz="2000" dirty="0"/>
              <a:t>0% → 5 puntos</a:t>
            </a:r>
          </a:p>
          <a:p>
            <a:pPr marL="0" indent="0">
              <a:buNone/>
            </a:pPr>
            <a:r>
              <a:rPr lang="es-MX" sz="2400" b="1" dirty="0"/>
              <a:t>Hallazgo:</a:t>
            </a:r>
            <a:r>
              <a:rPr lang="es-MX" sz="2400" dirty="0"/>
              <a:t> La ineficacia grave afecta a </a:t>
            </a:r>
            <a:r>
              <a:rPr lang="es-MX" sz="2400" b="1" dirty="0"/>
              <a:t>70 operadores (6.6% del total)</a:t>
            </a:r>
            <a:r>
              <a:rPr lang="es-MX" sz="2400" dirty="0"/>
              <a:t>.</a:t>
            </a:r>
          </a:p>
          <a:p>
            <a:endParaRPr lang="es-MX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91F45B6-6D6F-B12F-C2D6-32E0B21ABC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65800" y="1690688"/>
            <a:ext cx="6299373" cy="425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60E34-AB9D-BC67-0AA6-2BA5110F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Comprobación estadística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B6A264-D32B-30C0-E65D-591A9D7D9F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es-MX" b="1" dirty="0"/>
              <a:t>Descripción de la pruebas</a:t>
            </a:r>
          </a:p>
          <a:p>
            <a:pPr marL="0" indent="0" algn="ctr">
              <a:buNone/>
            </a:pPr>
            <a:endParaRPr lang="es-MX" b="1" dirty="0"/>
          </a:p>
          <a:p>
            <a:r>
              <a:rPr lang="es-MX" b="1" dirty="0"/>
              <a:t>Prueba 1 – Pérdidas en llamadas salientes</a:t>
            </a:r>
            <a:br>
              <a:rPr lang="es-MX" dirty="0"/>
            </a:br>
            <a:r>
              <a:rPr lang="es-MX" dirty="0"/>
              <a:t>Se comparó si los operadores ineficaces (puntaje ≥ 3) pierden más llamadas salientes que el resto.</a:t>
            </a:r>
          </a:p>
          <a:p>
            <a:pPr marL="0" indent="0">
              <a:buNone/>
            </a:pPr>
            <a:r>
              <a:rPr lang="es-MX" dirty="0"/>
              <a:t>Método: Mann-Whitney U (no paramétrica, para dos muestras independientes).</a:t>
            </a:r>
          </a:p>
          <a:p>
            <a:endParaRPr lang="es-MX" dirty="0"/>
          </a:p>
          <a:p>
            <a:r>
              <a:rPr lang="es-MX" b="1" dirty="0"/>
              <a:t>Prueba 2 – Relación entre pérdidas salientes y llamadas sin conversación</a:t>
            </a:r>
            <a:br>
              <a:rPr lang="es-MX" dirty="0"/>
            </a:br>
            <a:r>
              <a:rPr lang="es-MX" dirty="0"/>
              <a:t>Se midió si quienes pierden muchas llamadas salientes también tienen una alta proporción de llamadas que no llegan a conectar (duración cero).</a:t>
            </a:r>
          </a:p>
          <a:p>
            <a:pPr marL="0" indent="0">
              <a:buNone/>
            </a:pPr>
            <a:r>
              <a:rPr lang="es-MX" dirty="0"/>
              <a:t>Método: Coeficiente de correlación de Spearman (no paramétrico, para relaciones monótonas).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Prueba 3 – Relación entre pérdidas entrantes y tiempo de espera</a:t>
            </a:r>
            <a:br>
              <a:rPr lang="es-MX" dirty="0"/>
            </a:br>
            <a:r>
              <a:rPr lang="es-MX" dirty="0"/>
              <a:t>Se evaluó si los operadores que pierden muchas llamadas entrantes también tienen tiempos de espera más largos.</a:t>
            </a:r>
            <a:br>
              <a:rPr lang="es-MX" dirty="0"/>
            </a:br>
            <a:endParaRPr lang="es-MX" dirty="0"/>
          </a:p>
          <a:p>
            <a:pPr marL="0" indent="0">
              <a:buNone/>
            </a:pPr>
            <a:r>
              <a:rPr lang="es-MX" dirty="0"/>
              <a:t>Método: Mann-Whitney U (alternativa '</a:t>
            </a:r>
            <a:r>
              <a:rPr lang="es-MX" dirty="0" err="1"/>
              <a:t>greater</a:t>
            </a:r>
            <a:r>
              <a:rPr lang="es-MX" dirty="0"/>
              <a:t>').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8285F-10A4-EDB6-8291-832C4D2851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es-MX" b="1" dirty="0"/>
              <a:t>Resultados de las pruebas </a:t>
            </a:r>
          </a:p>
          <a:p>
            <a:pPr marL="0" indent="0" algn="ctr">
              <a:buNone/>
            </a:pPr>
            <a:endParaRPr lang="es-MX" dirty="0"/>
          </a:p>
          <a:p>
            <a:r>
              <a:rPr lang="es-MX" b="1" dirty="0"/>
              <a:t>Prueba 1.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Los operadores con score ≥ 3 (ineficaces) tienen una tasa de pérdidas salientes significativamente mayor que aquellos con score &lt; 3. Esto confirma que el score capta adecuadamente esta dimensión.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  <a:p>
            <a:r>
              <a:rPr lang="es-MX" b="1" dirty="0"/>
              <a:t>Prueba 2 </a:t>
            </a:r>
          </a:p>
          <a:p>
            <a:pPr marL="0" indent="0">
              <a:buNone/>
            </a:pPr>
            <a:r>
              <a:rPr lang="es-MX" dirty="0"/>
              <a:t>Existe una correlación prácticamente perfecta (ρ = 0.9996). Esto significa que, en los operadores con alta puntuación, las llamadas perdidas son casi siempre de duración cero, lo que refuerza la coherencia de las reglas 4 y 5 del score.</a:t>
            </a:r>
          </a:p>
          <a:p>
            <a:pPr marL="0" indent="0">
              <a:buNone/>
            </a:pPr>
            <a:br>
              <a:rPr lang="es-MX" dirty="0"/>
            </a:br>
            <a:endParaRPr lang="es-MX" dirty="0"/>
          </a:p>
          <a:p>
            <a:r>
              <a:rPr lang="es-MX" b="1" dirty="0"/>
              <a:t>Prueba 3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Los operadores que activaron la regla 1 (alta pérdida entrante) tienen tiempos de espera significativamente mayores que el resto. Esto valida que la regla 1 del score se asocia a otra métrica de ineficiencia (el tiempo de espera).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332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B178B-C536-A60B-E3DD-0B059AD6B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Recomendaciones prácticas</a:t>
            </a:r>
            <a:endParaRPr lang="es-MX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AB3158D-C361-814A-3BDA-1617AED50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131" y="1809583"/>
            <a:ext cx="9805737" cy="435133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br>
              <a:rPr lang="es-MX" dirty="0"/>
            </a:br>
            <a:endParaRPr lang="es-MX" dirty="0"/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Revisión prioritaria:</a:t>
            </a:r>
            <a:r>
              <a:rPr lang="es-MX" dirty="0"/>
              <a:t> Los 70 operadores con score ≥ 3 deben ser evaluados por supervisión. Especial atención a los 2 con score 4 (</a:t>
            </a:r>
            <a:r>
              <a:rPr lang="es-MX" dirty="0" err="1"/>
              <a:t>IDs</a:t>
            </a:r>
            <a:r>
              <a:rPr lang="es-MX" dirty="0"/>
              <a:t> 888406 y 918888) por su comportamiento extremo.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Investigación técnica:</a:t>
            </a:r>
            <a:r>
              <a:rPr lang="es-MX" dirty="0"/>
              <a:t> Dada la correlación casi perfecta entre pérdidas salientes y duración cero, se recomienda auditar la red y los registros de llamadas para descartar fallos técnicos o configuraciones que generen “llamadas fantasma”. Si se confirma mala práctica, aplicar medidas correctivas.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Reasignación de roles:</a:t>
            </a:r>
            <a:r>
              <a:rPr lang="es-MX" dirty="0"/>
              <a:t> Los operadores con muy bajo volumen saliente pero que sí tienen responsabilidad de llamar (proporción de llamadas de al menos 20%) podrían beneficiarse de coaching o de un cambio a funciones de recepción si su perfil es más adecuado.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Monitoreo continuo:</a:t>
            </a:r>
            <a:r>
              <a:rPr lang="es-MX" dirty="0"/>
              <a:t> Implementar el sistema de ranking de forma periódica (ej. mensual) para detectar tendencias y evaluar el impacto de las intervenciones.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Limitaciones del estudio: </a:t>
            </a:r>
            <a:r>
              <a:rPr lang="es-MX" dirty="0"/>
              <a:t>No se dispone de información sobre el rol real de cada operador (emisor, receptor o mixto), por lo que la penalización por bajo volumen saliente se aplicó mediante una heurística (proporción de llamadas de al menos 20%). En futuras iteraciones, se recomienda contar con datos explícitos de funciones.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0111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1024</Words>
  <Application>Microsoft Office PowerPoint</Application>
  <PresentationFormat>Panorámica</PresentationFormat>
  <Paragraphs>95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Menlo</vt:lpstr>
      <vt:lpstr>quote-cjk-patch</vt:lpstr>
      <vt:lpstr>Tema de Office</vt:lpstr>
      <vt:lpstr>CallMeMaybe</vt:lpstr>
      <vt:lpstr>Presentación del análisis</vt:lpstr>
      <vt:lpstr>Hallazgo crítico – La importancia de ponderar</vt:lpstr>
      <vt:lpstr>Perfiles de operador </vt:lpstr>
      <vt:lpstr>Hallazgos en las distribuciones</vt:lpstr>
      <vt:lpstr>Cinco criterios de ineficiencia</vt:lpstr>
      <vt:lpstr>Distribución de la puntuación</vt:lpstr>
      <vt:lpstr>Comprobación estadística</vt:lpstr>
      <vt:lpstr>Recomendaciones prácticas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 Esparza</dc:creator>
  <cp:lastModifiedBy>Abraham Esparza</cp:lastModifiedBy>
  <cp:revision>2</cp:revision>
  <dcterms:created xsi:type="dcterms:W3CDTF">2026-04-19T16:22:03Z</dcterms:created>
  <dcterms:modified xsi:type="dcterms:W3CDTF">2026-04-19T17:36:20Z</dcterms:modified>
</cp:coreProperties>
</file>